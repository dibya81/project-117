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6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C2B39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C2B39"/>
                </a:solidFill>
                <a:latin typeface="Calibri"/>
              </a:rPr>
              <a:t>Monthly Throughput (units)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Throughput (units)</c:v>
                </c:pt>
              </c:strCache>
            </c:strRef>
          </c:tx>
          <c:spPr>
            <a:solidFill>
              <a:srgbClr val="3E5C76"/>
            </a:solidFill>
            <a:ln w="31750" cap="flat">
              <a:solidFill>
                <a:srgbClr val="3E5C7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E5C76"/>
              </a:solidFill>
              <a:ln w="9525" cap="flat">
                <a:solidFill>
                  <a:srgbClr val="3E5C7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Sep-25</c:v>
                  </c:pt>
                  <c:pt idx="1">
                    <c:v>Oct-25</c:v>
                  </c:pt>
                  <c:pt idx="2">
                    <c:v>Nov-25</c:v>
                  </c:pt>
                  <c:pt idx="3">
                    <c:v>Dec-25</c:v>
                  </c:pt>
                  <c:pt idx="4">
                    <c:v>Jan-26</c:v>
                  </c:pt>
                  <c:pt idx="5">
                    <c:v>Feb-26</c:v>
                  </c:pt>
                  <c:pt idx="6">
                    <c:v>Mar-26</c:v>
                  </c:pt>
                  <c:pt idx="7">
                    <c:v>Apr-26</c:v>
                  </c:pt>
                  <c:pt idx="8">
                    <c:v>May-26</c:v>
                  </c:pt>
                  <c:pt idx="9">
                    <c:v>Jun-26</c:v>
                  </c:pt>
                  <c:pt idx="10">
                    <c:v>Jul-26</c:v>
                  </c:pt>
                  <c:pt idx="11">
                    <c:v>Aug-26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182628</c:v>
                </c:pt>
                <c:pt idx="1">
                  <c:v>188799</c:v>
                </c:pt>
                <c:pt idx="2">
                  <c:v>182546</c:v>
                </c:pt>
                <c:pt idx="3">
                  <c:v>189303</c:v>
                </c:pt>
                <c:pt idx="4">
                  <c:v>188037</c:v>
                </c:pt>
                <c:pt idx="5">
                  <c:v>169316</c:v>
                </c:pt>
                <c:pt idx="6">
                  <c:v>188008</c:v>
                </c:pt>
                <c:pt idx="7">
                  <c:v>182280</c:v>
                </c:pt>
                <c:pt idx="8">
                  <c:v>189504</c:v>
                </c:pt>
                <c:pt idx="9">
                  <c:v>181698</c:v>
                </c:pt>
                <c:pt idx="10">
                  <c:v>188384</c:v>
                </c:pt>
                <c:pt idx="11">
                  <c:v>189292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2B39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C2B39"/>
                </a:solidFill>
                <a:latin typeface="Calibri"/>
              </a:rPr>
              <a:t>Monthly Downtime (hours)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Downtime (hrs)</c:v>
                </c:pt>
              </c:strCache>
            </c:strRef>
          </c:tx>
          <c:spPr>
            <a:solidFill>
              <a:srgbClr val="D9A40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C2B3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Sep-25</c:v>
                  </c:pt>
                  <c:pt idx="1">
                    <c:v>Oct-25</c:v>
                  </c:pt>
                  <c:pt idx="2">
                    <c:v>Nov-25</c:v>
                  </c:pt>
                  <c:pt idx="3">
                    <c:v>Dec-25</c:v>
                  </c:pt>
                  <c:pt idx="4">
                    <c:v>Jan-26</c:v>
                  </c:pt>
                  <c:pt idx="5">
                    <c:v>Feb-26</c:v>
                  </c:pt>
                  <c:pt idx="6">
                    <c:v>Mar-26</c:v>
                  </c:pt>
                  <c:pt idx="7">
                    <c:v>Apr-26</c:v>
                  </c:pt>
                  <c:pt idx="8">
                    <c:v>May-26</c:v>
                  </c:pt>
                  <c:pt idx="9">
                    <c:v>Jun-26</c:v>
                  </c:pt>
                  <c:pt idx="10">
                    <c:v>Jul-26</c:v>
                  </c:pt>
                  <c:pt idx="11">
                    <c:v>Aug-26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75.3</c:v>
                </c:pt>
                <c:pt idx="1">
                  <c:v>84.6</c:v>
                </c:pt>
                <c:pt idx="2">
                  <c:v>99.2</c:v>
                </c:pt>
                <c:pt idx="3">
                  <c:v>92.3</c:v>
                </c:pt>
                <c:pt idx="4">
                  <c:v>126.2</c:v>
                </c:pt>
                <c:pt idx="5">
                  <c:v>121.6</c:v>
                </c:pt>
                <c:pt idx="6">
                  <c:v>107.7</c:v>
                </c:pt>
                <c:pt idx="7">
                  <c:v>109.2</c:v>
                </c:pt>
                <c:pt idx="8">
                  <c:v>80.2</c:v>
                </c:pt>
                <c:pt idx="9">
                  <c:v>104.6</c:v>
                </c:pt>
                <c:pt idx="10">
                  <c:v>101.3</c:v>
                </c:pt>
                <c:pt idx="11">
                  <c:v>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C2B3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8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2B39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C2B39"/>
                </a:solidFill>
                <a:latin typeface="Calibri"/>
              </a:rPr>
              <a:t>Monthly Efficiency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Efficiency %</c:v>
                </c:pt>
              </c:strCache>
            </c:strRef>
          </c:tx>
          <c:spPr>
            <a:solidFill>
              <a:srgbClr val="3E5C76"/>
            </a:solidFill>
            <a:ln w="31750" cap="flat">
              <a:solidFill>
                <a:srgbClr val="3E5C7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3E5C76"/>
              </a:solidFill>
              <a:ln w="9525" cap="flat">
                <a:solidFill>
                  <a:srgbClr val="3E5C7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Sep-25</c:v>
                  </c:pt>
                  <c:pt idx="1">
                    <c:v>Oct-25</c:v>
                  </c:pt>
                  <c:pt idx="2">
                    <c:v>Nov-25</c:v>
                  </c:pt>
                  <c:pt idx="3">
                    <c:v>Dec-25</c:v>
                  </c:pt>
                  <c:pt idx="4">
                    <c:v>Jan-26</c:v>
                  </c:pt>
                  <c:pt idx="5">
                    <c:v>Feb-26</c:v>
                  </c:pt>
                  <c:pt idx="6">
                    <c:v>Mar-26</c:v>
                  </c:pt>
                  <c:pt idx="7">
                    <c:v>Apr-26</c:v>
                  </c:pt>
                  <c:pt idx="8">
                    <c:v>May-26</c:v>
                  </c:pt>
                  <c:pt idx="9">
                    <c:v>Jun-26</c:v>
                  </c:pt>
                  <c:pt idx="10">
                    <c:v>Jul-26</c:v>
                  </c:pt>
                  <c:pt idx="11">
                    <c:v>Aug-26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96.2</c:v>
                </c:pt>
                <c:pt idx="1">
                  <c:v>96.2</c:v>
                </c:pt>
                <c:pt idx="2">
                  <c:v>95.9</c:v>
                </c:pt>
                <c:pt idx="3">
                  <c:v>96.3</c:v>
                </c:pt>
                <c:pt idx="4">
                  <c:v>95.7</c:v>
                </c:pt>
                <c:pt idx="5">
                  <c:v>95.6</c:v>
                </c:pt>
                <c:pt idx="6">
                  <c:v>95.7</c:v>
                </c:pt>
                <c:pt idx="7">
                  <c:v>95.7</c:v>
                </c:pt>
                <c:pt idx="8">
                  <c:v>96.3</c:v>
                </c:pt>
                <c:pt idx="9">
                  <c:v>95.7</c:v>
                </c:pt>
                <c:pt idx="10">
                  <c:v>95.9</c:v>
                </c:pt>
                <c:pt idx="11">
                  <c:v>96.4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8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90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2B39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C2B39"/>
                </a:solidFill>
                <a:latin typeface="Calibri"/>
              </a:rPr>
              <a:t>Monthly Safety Events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B041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C2B3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Sep-25</c:v>
                  </c:pt>
                  <c:pt idx="1">
                    <c:v>Oct-25</c:v>
                  </c:pt>
                  <c:pt idx="2">
                    <c:v>Nov-25</c:v>
                  </c:pt>
                  <c:pt idx="3">
                    <c:v>Dec-25</c:v>
                  </c:pt>
                  <c:pt idx="4">
                    <c:v>Jan-26</c:v>
                  </c:pt>
                  <c:pt idx="5">
                    <c:v>Feb-26</c:v>
                  </c:pt>
                  <c:pt idx="6">
                    <c:v>Mar-26</c:v>
                  </c:pt>
                  <c:pt idx="7">
                    <c:v>Apr-26</c:v>
                  </c:pt>
                  <c:pt idx="8">
                    <c:v>May-26</c:v>
                  </c:pt>
                  <c:pt idx="9">
                    <c:v>Jun-26</c:v>
                  </c:pt>
                  <c:pt idx="10">
                    <c:v>Jul-26</c:v>
                  </c:pt>
                  <c:pt idx="11">
                    <c:v>Aug-26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2</c:v>
                </c:pt>
                <c:pt idx="4">
                  <c:v>4</c:v>
                </c:pt>
                <c:pt idx="5">
                  <c:v>3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1</c:v>
                </c:pt>
                <c:pt idx="10">
                  <c:v>2</c:v>
                </c:pt>
                <c:pt idx="11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C2B3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9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2B39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C2B39"/>
                </a:solidFill>
                <a:latin typeface="Calibri"/>
              </a:rPr>
              <a:t>Severity Mix (5-Year)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Severity (5yr)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E5C76"/>
              </a:solidFill>
              <a:effectLst/>
            </c:spPr>
          </c:dPt>
          <c:dPt>
            <c:idx val="1"/>
            <c:bubble3D val="0"/>
            <c:spPr>
              <a:solidFill>
                <a:srgbClr val="8FA6BC"/>
              </a:solidFill>
              <a:effectLst/>
            </c:spPr>
          </c:dPt>
          <c:dPt>
            <c:idx val="2"/>
            <c:bubble3D val="0"/>
            <c:spPr>
              <a:solidFill>
                <a:srgbClr val="D9A404"/>
              </a:solidFill>
              <a:effectLst/>
            </c:spPr>
          </c:dPt>
          <c:dPt>
            <c:idx val="3"/>
            <c:bubble3D val="0"/>
            <c:spPr>
              <a:solidFill>
                <a:srgbClr val="B0413E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Near-miss</c:v>
                </c:pt>
                <c:pt idx="1">
                  <c:v>Minor</c:v>
                </c:pt>
                <c:pt idx="2">
                  <c:v>Moderate</c:v>
                </c:pt>
                <c:pt idx="3">
                  <c:v>Major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78</c:v>
                </c:pt>
                <c:pt idx="1">
                  <c:v>53</c:v>
                </c:pt>
                <c:pt idx="2">
                  <c:v>17</c:v>
                </c:pt>
                <c:pt idx="3">
                  <c:v>4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4A4A4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2B39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C2B39"/>
                </a:solidFill>
                <a:latin typeface="Calibri"/>
              </a:rPr>
              <a:t>Work Order Mix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Work Orders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E5C76"/>
              </a:solidFill>
              <a:effectLst/>
            </c:spPr>
          </c:dPt>
          <c:dPt>
            <c:idx val="1"/>
            <c:bubble3D val="0"/>
            <c:spPr>
              <a:solidFill>
                <a:srgbClr val="B0413E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Preventive</c:v>
                </c:pt>
                <c:pt idx="1">
                  <c:v>Corrective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2011</c:v>
                </c:pt>
                <c:pt idx="1">
                  <c:v>358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A4A4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OPERATIONS &amp; SAFETY REVIEW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Twelve-Month Trend: September 2025 — August 2026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Refinery Operations Review Board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Trend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Site-wide daily throughput, summed monthly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110642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Trend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117 REFINERY OPERATIONS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Efficiency &amp; Downtime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96.0% average process efficiency across the period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54864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172200" y="1463040"/>
          <a:ext cx="54864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&amp; Downtime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117 REFINERY OPERATIONS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Performance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safety events logged over the last 12 months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7665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7498080" y="1463040"/>
          <a:ext cx="4206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498080" y="484632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Near-misses account for 51% of all logged events — consistent with a healthy reporting culture rather than under-reporting.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Performance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117 REFINERY OPERATIONS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 Summary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2,369 work orders over 5 years — 15% corrective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51206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554480"/>
          <a:ext cx="5577840" cy="2926080"/>
        </p:xfrm>
        <a:graphic>
          <a:graphicData uri="http://schemas.openxmlformats.org/drawingml/2006/table">
            <a:tbl>
              <a:tblPr/>
              <a:tblGrid>
                <a:gridCol w="1859280"/>
                <a:gridCol w="1859280"/>
                <a:gridCol w="1859280"/>
              </a:tblGrid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Corrective WOs (5yr)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76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B-101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Blower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C-103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Compressor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CL-103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E-102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 exchanger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E-105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 exchanger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E-110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 exchanger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035040" y="466344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Watchlist: highest corrective-maintenance frequency, prime candidates for the predictive-maintenance agent to monitor first.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Summary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117 REFINERY OPERATIONS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2B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Actions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D9A404"/>
          </a:solidFill>
          <a:ln w="12700">
            <a:solidFill>
              <a:srgbClr val="D9A40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B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508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capital replacement review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74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assets are currently in critical status; prioritize valves and heat exchangers with 8 corrective work orders in 5 years.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D9A404"/>
          </a:solidFill>
          <a:ln w="12700">
            <a:solidFill>
              <a:srgbClr val="D9A40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B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651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inspection frequency on watchlist equipment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017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inspection interval from 180 to 90 days for the 6 highest-frequency assets until replaced.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502920" cy="502920"/>
          </a:xfrm>
          <a:prstGeom prst="ellipse">
            <a:avLst/>
          </a:prstGeom>
          <a:solidFill>
            <a:srgbClr val="D9A404"/>
          </a:solidFill>
          <a:ln w="12700">
            <a:solidFill>
              <a:srgbClr val="D9A40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B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794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 near-miss reporting culture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160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Near-misses remain 51% of all logged events; continue reinforcing early reporting rather than incident suppression.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983480"/>
            <a:ext cx="502920" cy="502920"/>
          </a:xfrm>
          <a:prstGeom prst="ellipse">
            <a:avLst/>
          </a:prstGeom>
          <a:solidFill>
            <a:srgbClr val="D9A404"/>
          </a:solidFill>
          <a:ln w="12700">
            <a:solidFill>
              <a:srgbClr val="D9A40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983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B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937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watchlist equipment to the predictive-maintenance agent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5303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live sensor thresholds for these assets into the agent workflow so drift is caught before the next scheduled inspection.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117 REFINERY OPERATIONS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2026-09-11T19:51:30Z</dcterms:created>
  <dcterms:modified xsi:type="dcterms:W3CDTF">2026-09-11T19:51:30Z</dcterms:modified>
</cp:coreProperties>
</file>