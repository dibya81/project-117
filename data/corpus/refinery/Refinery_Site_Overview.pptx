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2B39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C2B39"/>
                </a:solidFill>
                <a:latin typeface="Calibri"/>
              </a:rPr>
              <a:t>Headcount by Department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Headcount</c:v>
                </c:pt>
              </c:strCache>
            </c:strRef>
          </c:tx>
          <c:spPr>
            <a:solidFill>
              <a:srgbClr val="3E5C7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B3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Process Ops</c:v>
                  </c:pt>
                  <c:pt idx="1">
                    <c:v>Maintenance</c:v>
                  </c:pt>
                  <c:pt idx="2">
                    <c:v>I&amp;C</c:v>
                  </c:pt>
                  <c:pt idx="3">
                    <c:v>HSE</c:v>
                  </c:pt>
                  <c:pt idx="4">
                    <c:v>Logistics</c:v>
                  </c:pt>
                  <c:pt idx="5">
                    <c:v>Security</c:v>
                  </c:pt>
                  <c:pt idx="6">
                    <c:v>Quality</c:v>
                  </c:pt>
                  <c:pt idx="7">
                    <c:v>Utilities</c:v>
                  </c:pt>
                  <c:pt idx="8">
                    <c:v>Engineering</c:v>
                  </c:pt>
                  <c:pt idx="9">
                    <c:v>Admin &amp; HR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140</c:v>
                </c:pt>
                <c:pt idx="1">
                  <c:v>90</c:v>
                </c:pt>
                <c:pt idx="2">
                  <c:v>45</c:v>
                </c:pt>
                <c:pt idx="3">
                  <c:v>35</c:v>
                </c:pt>
                <c:pt idx="4">
                  <c:v>30</c:v>
                </c:pt>
                <c:pt idx="5">
                  <c:v>25</c:v>
                </c:pt>
                <c:pt idx="6">
                  <c:v>25</c:v>
                </c:pt>
                <c:pt idx="7">
                  <c:v>20</c:v>
                </c:pt>
                <c:pt idx="8">
                  <c:v>20</c:v>
                </c:pt>
                <c:pt idx="9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C2B3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2B39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C2B39"/>
                </a:solidFill>
                <a:latin typeface="Calibri"/>
              </a:rPr>
              <a:t>Equipment by Type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3E5C7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B3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Valve</c:v>
                  </c:pt>
                  <c:pt idx="1">
                    <c:v>Pump</c:v>
                  </c:pt>
                  <c:pt idx="2">
                    <c:v>Tank</c:v>
                  </c:pt>
                  <c:pt idx="3">
                    <c:v>Heat exchanger</c:v>
                  </c:pt>
                  <c:pt idx="4">
                    <c:v>Compressor</c:v>
                  </c:pt>
                  <c:pt idx="5">
                    <c:v>Reactor</c:v>
                  </c:pt>
                  <c:pt idx="6">
                    <c:v>Motor</c:v>
                  </c:pt>
                  <c:pt idx="7">
                    <c:v>Blower</c:v>
                  </c:pt>
                  <c:pt idx="8">
                    <c:v>Column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37</c:v>
                </c:pt>
                <c:pt idx="1">
                  <c:v>25</c:v>
                </c:pt>
                <c:pt idx="2">
                  <c:v>10</c:v>
                </c:pt>
                <c:pt idx="3">
                  <c:v>10</c:v>
                </c:pt>
                <c:pt idx="4">
                  <c:v>5</c:v>
                </c:pt>
                <c:pt idx="5">
                  <c:v>4</c:v>
                </c:pt>
                <c:pt idx="6">
                  <c:v>4</c:v>
                </c:pt>
                <c:pt idx="7">
                  <c:v>3</c:v>
                </c:pt>
                <c:pt idx="8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C2B3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2B39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C2B39"/>
                </a:solidFill>
                <a:latin typeface="Calibri"/>
              </a:rPr>
              <a:t>Equipment Health Status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E5C76"/>
              </a:solidFill>
              <a:effectLst/>
            </c:spPr>
          </c:dPt>
          <c:dPt>
            <c:idx val="1"/>
            <c:bubble3D val="0"/>
            <c:spPr>
              <a:solidFill>
                <a:srgbClr val="D9A404"/>
              </a:solidFill>
              <a:effectLst/>
            </c:spPr>
          </c:dPt>
          <c:dPt>
            <c:idx val="2"/>
            <c:bubble3D val="0"/>
            <c:spPr>
              <a:solidFill>
                <a:srgbClr val="B0413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Warning</c:v>
                </c:pt>
                <c:pt idx="2">
                  <c:v>Critical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72</c:v>
                </c:pt>
                <c:pt idx="1">
                  <c:v>6</c:v>
                </c:pt>
                <c:pt idx="2">
                  <c:v>23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4A4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B3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REFINERY SITE OVERVIEW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Land, Workforce, Equipment and Five-Year Operating Profile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Executive Review  |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 Footprint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152.5 acres across 7 land parcels, 14 buildings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3E5C76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area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105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CDU, VDU, FCC, Hydrotreater control rooms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62.0 acres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457200" cy="457200"/>
          </a:xfrm>
          <a:prstGeom prst="ellipse">
            <a:avLst/>
          </a:prstGeom>
          <a:solidFill>
            <a:srgbClr val="D9A404"/>
          </a:solidFill>
          <a:ln w="12700">
            <a:solidFill>
              <a:srgbClr val="D9A40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2219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farm &amp; storage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52374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storage tanks, pump stations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22677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38.0 acres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980944"/>
            <a:ext cx="457200" cy="457200"/>
          </a:xfrm>
          <a:prstGeom prst="ellipse">
            <a:avLst/>
          </a:prstGeom>
          <a:solidFill>
            <a:srgbClr val="3E5C76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9352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&amp; power block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23697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Substation, boiler &amp; steam house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29809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 acres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694176"/>
            <a:ext cx="457200" cy="457200"/>
          </a:xfrm>
          <a:prstGeom prst="ellipse">
            <a:avLst/>
          </a:prstGeom>
          <a:solidFill>
            <a:srgbClr val="D9A404"/>
          </a:solidFill>
          <a:ln w="12700">
            <a:solidFill>
              <a:srgbClr val="D9A40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6484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yard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9502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Weighbridge, spares warehouse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961120" y="36941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 acres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407408"/>
            <a:ext cx="457200" cy="457200"/>
          </a:xfrm>
          <a:prstGeom prst="ellipse">
            <a:avLst/>
          </a:prstGeom>
          <a:solidFill>
            <a:srgbClr val="3E5C76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43616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ETP &amp; green belt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663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treatment, buffer zone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961120" y="44074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 acres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120640"/>
            <a:ext cx="457200" cy="457200"/>
          </a:xfrm>
          <a:prstGeom prst="ellipse">
            <a:avLst/>
          </a:prstGeom>
          <a:solidFill>
            <a:srgbClr val="D9A404"/>
          </a:solidFill>
          <a:ln w="12700">
            <a:solidFill>
              <a:srgbClr val="D9A40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234440" y="5074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gate complex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234440" y="53766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block, training centre, canteen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961120" y="5120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acres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&amp; Land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117 REFINERY OPERATIONS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445 employees across 10 departments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E5C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445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headcount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A4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certified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572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04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486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patterns (A / B / C / General)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566160" y="1371600"/>
          <a:ext cx="81381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117 REFINERY OPERATIONS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Equipment Portfolio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pieces of equipment, 137 monitored sensor points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4008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7223760" y="1463040"/>
          <a:ext cx="44805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223760" y="438912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assets are operating in critical condition (past or near end of rated service life) and are prioritized for the predictive-maintenance agent workflow.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Portfolio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117 REFINERY OPERATIONS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Zones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zones, crude in to finished product out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3E5C76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4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190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Distillation Unit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031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separation of crude into fractions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783080"/>
            <a:ext cx="502920" cy="502920"/>
          </a:xfrm>
          <a:prstGeom prst="ellipse">
            <a:avLst/>
          </a:prstGeom>
          <a:solidFill>
            <a:srgbClr val="3E5C76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4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7190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Distillation Unit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1031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separation of atmospheric residue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337560"/>
            <a:ext cx="502920" cy="502920"/>
          </a:xfrm>
          <a:prstGeom prst="ellipse">
            <a:avLst/>
          </a:prstGeom>
          <a:solidFill>
            <a:srgbClr val="3E5C76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4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2735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Catalytic Cracker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6576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heavy fractions to lighter products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310896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3337560"/>
            <a:ext cx="502920" cy="502920"/>
          </a:xfrm>
          <a:prstGeom prst="ellipse">
            <a:avLst/>
          </a:prstGeom>
          <a:solidFill>
            <a:srgbClr val="3E5C76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4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32735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Hydrotreater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36576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sulphur and impurities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892040"/>
            <a:ext cx="502920" cy="502920"/>
          </a:xfrm>
          <a:prstGeom prst="ellipse">
            <a:avLst/>
          </a:prstGeom>
          <a:solidFill>
            <a:srgbClr val="3E5C76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4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48280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Tank Farm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463040" y="52120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and finished product storage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09360" y="46634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37960" y="4892040"/>
            <a:ext cx="502920" cy="502920"/>
          </a:xfrm>
          <a:prstGeom prst="ellipse">
            <a:avLst/>
          </a:prstGeom>
          <a:solidFill>
            <a:srgbClr val="3E5C76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3796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4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48280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&amp; Pipeline Network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223760" y="52120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Steam, power, and site-wide distribution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Zones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117 REFINERY OPERATIONS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Five-Year Operating Snapshot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2021 — September 2026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A4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250,299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readings logged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9202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A4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2,369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2788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work orders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19202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A4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1,051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2788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inspections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9319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A4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800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events (78 near-miss)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39319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A4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10,962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4800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production data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39319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A4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96.0%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4800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process efficiency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Five-Year Snapshot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117 REFINERY OPERATIONS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2026-09-11T19:50:16Z</dcterms:created>
  <dcterms:modified xsi:type="dcterms:W3CDTF">2026-09-11T19:50:16Z</dcterms:modified>
</cp:coreProperties>
</file>